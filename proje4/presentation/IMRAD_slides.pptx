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YZM304 — DERİN ÖĞRENME · PROJE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Oyun Ekran Görüntülerinden Oyun Tespiti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CFCE7"/>
                </a:solidFill>
                <a:latin typeface="Calibri"/>
              </a:rPr>
              <a:t>MLP, Sıfırdan CNN ve Transfer Learning Mimarilerinin Karşılaştırmalı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Mehmet Ali Topkara — 23291093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Ankara Üniversitesi · Yapay Zeka ve Veri Mühendisliği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2025–2026 Bahar Dönemi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10972800" cy="128016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532D"/>
                </a:solidFill>
                <a:latin typeface="Calibri"/>
              </a:rPr>
              <a:t>Proje Özeti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10 sınıflı oyun ekran görüntüsü sınıflandırması · 5 model: 2 baseline (MLP, CNN scratch) + 3 transfer learning (ResNet50, EfficientNetB0, ViT-Base/16) · FastAPI + React lokal web demosu · belirsizlik göstergesi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Neden Bu Konu?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Gaming sektörü, manuel etiketlemenin sınırları ve sınıf çeşitliliği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Oyun sektörünün küresel hacmi 2024 itibarıyla yaklaşık </a:t>
            </a:r>
            <a:r>
              <a:rPr sz="1400" b="1">
                <a:solidFill>
                  <a:srgbClr val="0F172A"/>
                </a:solidFill>
                <a:latin typeface="Calibri"/>
              </a:rPr>
              <a:t>200 milyar dolara</a:t>
            </a:r>
            <a:r>
              <a:rPr sz="1400" b="0">
                <a:solidFill>
                  <a:srgbClr val="334155"/>
                </a:solidFill>
                <a:latin typeface="Calibri"/>
              </a:rPr>
              <a:t> ulaşmıştır. Twitch ve YouTube Gaming gibi platformlara her gün milyonlarca saatlik gameplay görüntüsü yüklenmekte, bu içeriğin manuel olarak kategorize edilmesi pratikte mümkün olmamaktadır.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Otomatik sınıflandırma sistemleri bu noktada arama, içerik moderasyonu, telif kontrolü ve öneri sistemleri için kritik bir altyapı haline gelmiştir. Görsel olarak da zorlu bir problemdir: özellikle FPS oyunları benzer arayüzlere sahiptir, MMORPG'ler aynı sahnede çok farklı görseller üretir, ve aynı oyun farklı modlarında oldukça farklı görünebilir.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10972800" cy="18288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Konu Seçiminde Çeşitlilik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424160" cy="1280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Sınıf arkadaşlarımın büyük çoğunluğu </a:t>
            </a:r>
            <a:r>
              <a:rPr sz="1300" b="1">
                <a:solidFill>
                  <a:srgbClr val="0F172A"/>
                </a:solidFill>
                <a:latin typeface="Calibri"/>
              </a:rPr>
              <a:t>sağlık ve insan tabanlı</a:t>
            </a:r>
            <a:r>
              <a:rPr sz="1300" b="0">
                <a:solidFill>
                  <a:srgbClr val="334155"/>
                </a:solidFill>
                <a:latin typeface="Calibri"/>
              </a:rPr>
              <a:t> görüntü sınıflandırma problemlerini (tıbbi görüntüler, yüz tanıma, duygu analizi vb.) tercih etmiştir. Ben </a:t>
            </a:r>
            <a:r>
              <a:rPr sz="1300" b="1">
                <a:solidFill>
                  <a:srgbClr val="0F172A"/>
                </a:solidFill>
                <a:latin typeface="Calibri"/>
              </a:rPr>
              <a:t>çeşitlilik</a:t>
            </a:r>
            <a:r>
              <a:rPr sz="1300" b="0">
                <a:solidFill>
                  <a:srgbClr val="334155"/>
                </a:solidFill>
                <a:latin typeface="Calibri"/>
              </a:rPr>
              <a:t> açısından farklı bir bağlam seçerek </a:t>
            </a:r>
            <a:r>
              <a:rPr sz="1300" b="1">
                <a:solidFill>
                  <a:srgbClr val="0F172A"/>
                </a:solidFill>
                <a:latin typeface="Calibri"/>
              </a:rPr>
              <a:t>oyun ekran görüntülerini</a:t>
            </a:r>
            <a:r>
              <a:rPr sz="1300" b="0">
                <a:solidFill>
                  <a:srgbClr val="334155"/>
                </a:solidFill>
                <a:latin typeface="Calibri"/>
              </a:rPr>
              <a:t> seçtim — hem sektörel olarak güncel, hem de görsel zorluk açısından zengin bir problem alanı sunduğu için.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Problem, Araştırma Sorusu ve Birincil Metrik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Closed-set sınıflandırma · hipotez · neden Macro-F1?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Problem Tanımı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Tek bir oyun ekran görüntüsü verildiğinde, modelin görseli </a:t>
            </a:r>
            <a:r>
              <a:rPr sz="1200" b="1">
                <a:solidFill>
                  <a:srgbClr val="0F172A"/>
                </a:solidFill>
                <a:latin typeface="Calibri"/>
              </a:rPr>
              <a:t>10 önceden tanımlı sınıftan birine</a:t>
            </a:r>
            <a:r>
              <a:rPr sz="1200" b="0">
                <a:solidFill>
                  <a:srgbClr val="334155"/>
                </a:solidFill>
                <a:latin typeface="Calibri"/>
              </a:rPr>
              <a:t> atfetmesi (closed-set sınıflandırma).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Araştırma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868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Görüntü yapısını yok sayan </a:t>
            </a:r>
            <a:r>
              <a:rPr sz="1200" b="1">
                <a:solidFill>
                  <a:srgbClr val="0F172A"/>
                </a:solidFill>
                <a:latin typeface="Calibri"/>
              </a:rPr>
              <a:t>MLP</a:t>
            </a:r>
            <a:r>
              <a:rPr sz="1200" b="0">
                <a:solidFill>
                  <a:srgbClr val="334155"/>
                </a:solidFill>
                <a:latin typeface="Calibri"/>
              </a:rPr>
              <a:t>, sıfırdan eğitilen </a:t>
            </a:r>
            <a:r>
              <a:rPr sz="1200" b="1">
                <a:solidFill>
                  <a:srgbClr val="0F172A"/>
                </a:solidFill>
                <a:latin typeface="Calibri"/>
              </a:rPr>
              <a:t>klasik CNN</a:t>
            </a:r>
            <a:r>
              <a:rPr sz="1200" b="0">
                <a:solidFill>
                  <a:srgbClr val="334155"/>
                </a:solidFill>
                <a:latin typeface="Calibri"/>
              </a:rPr>
              <a:t> ve ImageNet üzerinde eğitilmiş </a:t>
            </a:r>
            <a:r>
              <a:rPr sz="1200" b="1">
                <a:solidFill>
                  <a:srgbClr val="0F172A"/>
                </a:solidFill>
                <a:latin typeface="Calibri"/>
              </a:rPr>
              <a:t>transfer learning</a:t>
            </a:r>
            <a:r>
              <a:rPr sz="1200" b="0">
                <a:solidFill>
                  <a:srgbClr val="334155"/>
                </a:solidFill>
                <a:latin typeface="Calibri"/>
              </a:rPr>
              <a:t> modelleri aynı veri setinde nasıl performans gösterir? Mimari değişiminin ve pretrained ağırlıkların etkisi sayısal olarak ne kadardır?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Hipotez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MLP düşük performans verir; CNN scratch belirgin sıçrama yapar; transfer learning marjinal ek iyileştirme sağlar — fakat </a:t>
            </a:r>
            <a:r>
              <a:rPr sz="1200" b="1">
                <a:solidFill>
                  <a:srgbClr val="0F172A"/>
                </a:solidFill>
                <a:latin typeface="Calibri"/>
              </a:rPr>
              <a:t>maliyet açısından</a:t>
            </a:r>
            <a:r>
              <a:rPr sz="1200" b="0">
                <a:solidFill>
                  <a:srgbClr val="334155"/>
                </a:solidFill>
                <a:latin typeface="Calibri"/>
              </a:rPr>
              <a:t> transfer modeller çok daha pahalıdır.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83480"/>
            <a:ext cx="10972800" cy="13716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Birincil Metrik: Macro-F1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424160" cy="868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Veri dengeli (sınıf başına 1000 örnek) olduğundan accuracy ve weighted-F1 yakın çıkmaktadır. Ancak </a:t>
            </a:r>
            <a:r>
              <a:rPr sz="1100" b="1">
                <a:solidFill>
                  <a:srgbClr val="0F172A"/>
                </a:solidFill>
                <a:latin typeface="Calibri"/>
              </a:rPr>
              <a:t>Macro-F1</a:t>
            </a:r>
            <a:r>
              <a:rPr sz="1100" b="0">
                <a:solidFill>
                  <a:srgbClr val="334155"/>
                </a:solidFill>
                <a:latin typeface="Calibri"/>
              </a:rPr>
              <a:t> her sınıfa </a:t>
            </a:r>
            <a:r>
              <a:rPr sz="1100" b="1">
                <a:solidFill>
                  <a:srgbClr val="0F172A"/>
                </a:solidFill>
                <a:latin typeface="Calibri"/>
              </a:rPr>
              <a:t>eşit ağırlık</a:t>
            </a:r>
            <a:r>
              <a:rPr sz="1100" b="0">
                <a:solidFill>
                  <a:srgbClr val="334155"/>
                </a:solidFill>
                <a:latin typeface="Calibri"/>
              </a:rPr>
              <a:t> verir; precision ve recall'u harmonik ortalama ile birleştirir — bu da adil mimari karşılaştırması için akademik standarttır. Tüm yorumlar bu metrik üzerinden yapılır.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Veri Seti — Kaynak ve Yapısı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Kaggle Gameplay Images · 10 sınıf × 1000 örnek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Çalışmada </a:t>
            </a:r>
            <a:r>
              <a:rPr sz="1200" b="1">
                <a:solidFill>
                  <a:srgbClr val="0F172A"/>
                </a:solidFill>
                <a:latin typeface="Calibri"/>
              </a:rPr>
              <a:t>Kaggle</a:t>
            </a:r>
            <a:r>
              <a:rPr sz="1200" b="0">
                <a:solidFill>
                  <a:srgbClr val="334155"/>
                </a:solidFill>
                <a:latin typeface="Calibri"/>
              </a:rPr>
              <a:t> platformunda yayınlanan </a:t>
            </a:r>
            <a:r>
              <a:rPr sz="1200" b="1">
                <a:solidFill>
                  <a:srgbClr val="0F172A"/>
                </a:solidFill>
                <a:latin typeface="Calibri"/>
              </a:rPr>
              <a:t>Gameplay Images</a:t>
            </a:r>
            <a:r>
              <a:rPr sz="1200" b="0">
                <a:solidFill>
                  <a:srgbClr val="334155"/>
                </a:solidFill>
                <a:latin typeface="Calibri"/>
              </a:rPr>
              <a:t> veri seti kullanılmıştır. Veri seti 10 farklı popüler oyundan </a:t>
            </a:r>
            <a:r>
              <a:rPr sz="1200" b="1">
                <a:solidFill>
                  <a:srgbClr val="0F172A"/>
                </a:solidFill>
                <a:latin typeface="Calibri"/>
              </a:rPr>
              <a:t>toplam 10.000 ekran görüntüsü</a:t>
            </a:r>
            <a:r>
              <a:rPr sz="1200" b="0">
                <a:solidFill>
                  <a:srgbClr val="334155"/>
                </a:solidFill>
                <a:latin typeface="Calibri"/>
              </a:rPr>
              <a:t> içermektedir; her sınıf için </a:t>
            </a:r>
            <a:r>
              <a:rPr sz="1200" b="1">
                <a:solidFill>
                  <a:srgbClr val="0F172A"/>
                </a:solidFill>
                <a:latin typeface="Calibri"/>
              </a:rPr>
              <a:t>1000 örnek</a:t>
            </a:r>
            <a:r>
              <a:rPr sz="1200" b="0">
                <a:solidFill>
                  <a:srgbClr val="334155"/>
                </a:solidFill>
                <a:latin typeface="Calibri"/>
              </a:rPr>
              <a:t> bulunmakta ve sınıf dağılımı </a:t>
            </a:r>
            <a:r>
              <a:rPr sz="1200" b="1">
                <a:solidFill>
                  <a:srgbClr val="0F172A"/>
                </a:solidFill>
                <a:latin typeface="Calibri"/>
              </a:rPr>
              <a:t>mükemmel şekilde dengelidir</a:t>
            </a:r>
            <a:r>
              <a:rPr sz="1200" b="0">
                <a:solidFill>
                  <a:srgbClr val="334155"/>
                </a:solidFill>
                <a:latin typeface="Calibri"/>
              </a:rPr>
              <a:t> (sağdaki grafik).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Görseller </a:t>
            </a:r>
            <a:r>
              <a:rPr sz="1200" b="1">
                <a:solidFill>
                  <a:srgbClr val="0F172A"/>
                </a:solidFill>
                <a:latin typeface="Calibri"/>
              </a:rPr>
              <a:t>640×360 piksel</a:t>
            </a:r>
            <a:r>
              <a:rPr sz="1200" b="0">
                <a:solidFill>
                  <a:srgbClr val="334155"/>
                </a:solidFill>
                <a:latin typeface="Calibri"/>
              </a:rPr>
              <a:t> çözünürlükte PNG formatında sunulmuştur. Eğitim öncesinde tümü 224×224'e yeniden boyutlandırılarak ImageNet üzerinde önceden eğitilmiş modellerin beklediği girdi boyutuyla uyumlu hale getirilmiştir.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Sınıflar: </a:t>
            </a:r>
            <a:r>
              <a:rPr sz="1200" b="1">
                <a:solidFill>
                  <a:srgbClr val="0F172A"/>
                </a:solidFill>
                <a:latin typeface="Calibri"/>
              </a:rPr>
              <a:t>Among Us, Apex Legends, Fortnite, Forza Horizon, Free Fire, Genshin Impact, God of War, Minecraft, Roblox, Terraria</a:t>
            </a:r>
            <a:r>
              <a:rPr sz="12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eda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0292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 çalışmada veri seti hiçbir sentetik artırma yapılmadan, kaynağında olduğu gibi 10×1000 dağılımıyla kullanılmıştır.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Veri Ön İşleme ve Bölme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RGBA → RGB · stratified split ·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2468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Veri seti üzerindeki ilk işlem, modellerin işleyebileceği tek tip </a:t>
            </a:r>
            <a:r>
              <a:rPr sz="1200" b="1">
                <a:solidFill>
                  <a:srgbClr val="0F172A"/>
                </a:solidFill>
                <a:latin typeface="Calibri"/>
              </a:rPr>
              <a:t>RGB formatına dönüştürülmesi</a:t>
            </a:r>
            <a:r>
              <a:rPr sz="1200" b="0">
                <a:solidFill>
                  <a:srgbClr val="334155"/>
                </a:solidFill>
                <a:latin typeface="Calibri"/>
              </a:rPr>
              <a:t> olmuştur. Ham görsellerin yaklaşık %20'si RGBA (alfa kanallı) formatta olduğundan, eğitim öncesinde RGB'ye çevrilmiştir. Tüm görseller </a:t>
            </a:r>
            <a:r>
              <a:rPr sz="1200" b="1">
                <a:solidFill>
                  <a:srgbClr val="0F172A"/>
                </a:solidFill>
                <a:latin typeface="Calibri"/>
              </a:rPr>
              <a:t>224×224 piksele</a:t>
            </a:r>
            <a:r>
              <a:rPr sz="1200" b="0">
                <a:solidFill>
                  <a:srgbClr val="334155"/>
                </a:solidFill>
                <a:latin typeface="Calibri"/>
              </a:rPr>
              <a:t> yeniden boyutlandırılarak ImageNet pretrained modelleriyle uyumlu hale getirilmiştir.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Eğitim verisi üzerinde genelleme kabiliyetini artırmak amacıyla </a:t>
            </a:r>
            <a:r>
              <a:rPr sz="1200" b="1">
                <a:solidFill>
                  <a:srgbClr val="0F172A"/>
                </a:solidFill>
                <a:latin typeface="Calibri"/>
              </a:rPr>
              <a:t>augmentation</a:t>
            </a:r>
            <a:r>
              <a:rPr sz="1200" b="0">
                <a:solidFill>
                  <a:srgbClr val="334155"/>
                </a:solidFill>
                <a:latin typeface="Calibri"/>
              </a:rPr>
              <a:t> uygulanmıştır: rastgele kırpma (RandomCrop 224), yatay çevirme, renk titreşimi (ColorJitter — parlaklık, kontrast, doygunluk) ve ±10° rotation. Validation ve test setlerinde sadece deterministik resize + center crop kullanılmıştır. ImageNet ortalama-standart sapma değerleriyle normalizasyon yapılmıştır.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Veri Bölme — Stratified 70/15/15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Veri seti </a:t>
            </a:r>
            <a:r>
              <a:rPr sz="1200" b="1">
                <a:solidFill>
                  <a:srgbClr val="0F172A"/>
                </a:solidFill>
                <a:latin typeface="Calibri"/>
              </a:rPr>
              <a:t>stratified split</a:t>
            </a:r>
            <a:r>
              <a:rPr sz="1200" b="0">
                <a:solidFill>
                  <a:srgbClr val="334155"/>
                </a:solidFill>
                <a:latin typeface="Calibri"/>
              </a:rPr>
              <a:t> ile bölünmüştür: </a:t>
            </a:r>
            <a:r>
              <a:rPr sz="1200" b="1">
                <a:solidFill>
                  <a:srgbClr val="0F172A"/>
                </a:solidFill>
                <a:latin typeface="Calibri"/>
              </a:rPr>
              <a:t>%70 eğitim (7000 görsel), %15 doğrulama (1500 görsel), %15 test (1500 görsel)</a:t>
            </a:r>
            <a:r>
              <a:rPr sz="1200" b="0">
                <a:solidFill>
                  <a:srgbClr val="334155"/>
                </a:solidFill>
                <a:latin typeface="Calibri"/>
              </a:rPr>
              <a:t>. Stratified yöntemi her sınıftan eşit oranda örnek alarak train/val/test dağılımını korur — bizim setimiz dengeli olduğu için sonuç eşit oran ile aynı, ancak yöntem </a:t>
            </a:r>
            <a:r>
              <a:rPr sz="1200" b="1">
                <a:solidFill>
                  <a:srgbClr val="0F172A"/>
                </a:solidFill>
                <a:latin typeface="Calibri"/>
              </a:rPr>
              <a:t>reproducibility</a:t>
            </a:r>
            <a:r>
              <a:rPr sz="1200" b="0">
                <a:solidFill>
                  <a:srgbClr val="334155"/>
                </a:solidFill>
                <a:latin typeface="Calibri"/>
              </a:rPr>
              <a:t> ve doğru pratiği sağlar. Bölme </a:t>
            </a:r>
            <a:r>
              <a:rPr sz="1200" b="1">
                <a:solidFill>
                  <a:srgbClr val="0F172A"/>
                </a:solidFill>
                <a:latin typeface="Calibri"/>
              </a:rPr>
              <a:t>seed=42</a:t>
            </a:r>
            <a:r>
              <a:rPr sz="1200" b="0">
                <a:solidFill>
                  <a:srgbClr val="334155"/>
                </a:solidFill>
                <a:latin typeface="Calibri"/>
              </a:rPr>
              <a:t> ile sabitlenmiş, eğitim ile test seti hiçbir noktada karışmamıştır.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MLP — Yapay Sinir Ağı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Tam bağlı katmanlar · görüntü yapısını yok sayar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Girdi</a:t>
            </a:r>
          </a:p>
        </p:txBody>
      </p:sp>
      <p:sp>
        <p:nvSpPr>
          <p:cNvPr id="5" name="Oval 4"/>
          <p:cNvSpPr/>
          <p:nvPr/>
        </p:nvSpPr>
        <p:spPr>
          <a:xfrm>
            <a:off x="1092708" y="198882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2708" y="2638044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08" y="328726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" y="3936492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2708" y="4585716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150,528
(3×224×224)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087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FC 256</a:t>
            </a:r>
          </a:p>
        </p:txBody>
      </p:sp>
      <p:sp>
        <p:nvSpPr>
          <p:cNvPr id="12" name="Oval 11"/>
          <p:cNvSpPr/>
          <p:nvPr/>
        </p:nvSpPr>
        <p:spPr>
          <a:xfrm>
            <a:off x="2692908" y="1934718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2908" y="2475738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908" y="3016758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92908" y="3557778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92908" y="4098798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92908" y="4639818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5212080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256 nöron
ReLU + Dropout 0.3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5087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FC 128</a:t>
            </a:r>
          </a:p>
        </p:txBody>
      </p:sp>
      <p:sp>
        <p:nvSpPr>
          <p:cNvPr id="20" name="Oval 19"/>
          <p:cNvSpPr/>
          <p:nvPr/>
        </p:nvSpPr>
        <p:spPr>
          <a:xfrm>
            <a:off x="4293108" y="1988820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93108" y="2638044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93108" y="3287268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93108" y="3936492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93108" y="4585716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5212080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128 nöron
ReLU + Dropout 0.3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5087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Çıktı</a:t>
            </a:r>
          </a:p>
        </p:txBody>
      </p:sp>
      <p:sp>
        <p:nvSpPr>
          <p:cNvPr id="27" name="Oval 26"/>
          <p:cNvSpPr/>
          <p:nvPr/>
        </p:nvSpPr>
        <p:spPr>
          <a:xfrm>
            <a:off x="5893308" y="2069973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3308" y="2881503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93308" y="3693033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93308" y="4504563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5212080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10 sınıf
(softmax)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421892" y="2099310"/>
            <a:ext cx="1271016" cy="54102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21892" y="2153412"/>
            <a:ext cx="1271016" cy="48691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21892" y="2153412"/>
            <a:ext cx="1271016" cy="102793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21892" y="2153412"/>
            <a:ext cx="1271016" cy="156895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21892" y="2153412"/>
            <a:ext cx="1271016" cy="210997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21892" y="2153412"/>
            <a:ext cx="1271016" cy="265099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21892" y="2099310"/>
            <a:ext cx="1271016" cy="703326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421892" y="2640330"/>
            <a:ext cx="1271016" cy="162306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21892" y="2802636"/>
            <a:ext cx="1271016" cy="37871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21892" y="2802636"/>
            <a:ext cx="1271016" cy="91973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21892" y="2802636"/>
            <a:ext cx="1271016" cy="146075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21892" y="2802636"/>
            <a:ext cx="1271016" cy="200177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21892" y="2099310"/>
            <a:ext cx="1271016" cy="135255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421892" y="2640330"/>
            <a:ext cx="1271016" cy="81153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421892" y="3181350"/>
            <a:ext cx="1271016" cy="27051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21892" y="3451860"/>
            <a:ext cx="1271016" cy="27051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21892" y="3451860"/>
            <a:ext cx="1271016" cy="81153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21892" y="3451860"/>
            <a:ext cx="1271016" cy="135255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421892" y="2099310"/>
            <a:ext cx="1271016" cy="200177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421892" y="2640330"/>
            <a:ext cx="1271016" cy="146075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21892" y="3181350"/>
            <a:ext cx="1271016" cy="91973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421892" y="3722370"/>
            <a:ext cx="1271016" cy="37871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421892" y="4101084"/>
            <a:ext cx="1271016" cy="162306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21892" y="4101084"/>
            <a:ext cx="1271016" cy="703326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21892" y="2099310"/>
            <a:ext cx="1271016" cy="265099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421892" y="2640330"/>
            <a:ext cx="1271016" cy="210997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421892" y="3181350"/>
            <a:ext cx="1271016" cy="156895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421892" y="3722370"/>
            <a:ext cx="1271016" cy="102793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421892" y="4263390"/>
            <a:ext cx="1271016" cy="48691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421892" y="4750308"/>
            <a:ext cx="1271016" cy="54102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22092" y="2099310"/>
            <a:ext cx="1271016" cy="54102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022092" y="2099310"/>
            <a:ext cx="1271016" cy="703326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022092" y="2099310"/>
            <a:ext cx="1271016" cy="135255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022092" y="2099310"/>
            <a:ext cx="1271016" cy="200177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022092" y="2099310"/>
            <a:ext cx="1271016" cy="265099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022092" y="2153412"/>
            <a:ext cx="1271016" cy="48691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22092" y="2640330"/>
            <a:ext cx="1271016" cy="162306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022092" y="2640330"/>
            <a:ext cx="1271016" cy="81153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022092" y="2640330"/>
            <a:ext cx="1271016" cy="146075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022092" y="2640330"/>
            <a:ext cx="1271016" cy="210997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022092" y="2153412"/>
            <a:ext cx="1271016" cy="102793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22092" y="2802636"/>
            <a:ext cx="1271016" cy="37871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022092" y="3181350"/>
            <a:ext cx="1271016" cy="27051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022092" y="3181350"/>
            <a:ext cx="1271016" cy="91973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022092" y="3181350"/>
            <a:ext cx="1271016" cy="156895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022092" y="2153412"/>
            <a:ext cx="1271016" cy="156895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022092" y="2802636"/>
            <a:ext cx="1271016" cy="91973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022092" y="3451860"/>
            <a:ext cx="1271016" cy="27051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022092" y="3722370"/>
            <a:ext cx="1271016" cy="37871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022092" y="3722370"/>
            <a:ext cx="1271016" cy="102793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022092" y="2153412"/>
            <a:ext cx="1271016" cy="210997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022092" y="2802636"/>
            <a:ext cx="1271016" cy="146075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22092" y="3451860"/>
            <a:ext cx="1271016" cy="81153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022092" y="4101084"/>
            <a:ext cx="1271016" cy="162306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022092" y="4263390"/>
            <a:ext cx="1271016" cy="48691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022092" y="2153412"/>
            <a:ext cx="1271016" cy="2650998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022092" y="2802636"/>
            <a:ext cx="1271016" cy="2001774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022092" y="3451860"/>
            <a:ext cx="1271016" cy="1352550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022092" y="4101084"/>
            <a:ext cx="1271016" cy="703326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022092" y="4750308"/>
            <a:ext cx="1271016" cy="54102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22292" y="2153412"/>
            <a:ext cx="1271016" cy="81153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622292" y="2153412"/>
            <a:ext cx="1271016" cy="892683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622292" y="2153412"/>
            <a:ext cx="1271016" cy="1704213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622292" y="2153412"/>
            <a:ext cx="1271016" cy="2515743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622292" y="2234565"/>
            <a:ext cx="1271016" cy="568071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622292" y="2802636"/>
            <a:ext cx="1271016" cy="243459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622292" y="2802636"/>
            <a:ext cx="1271016" cy="1054989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622292" y="2802636"/>
            <a:ext cx="1271016" cy="1866519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622292" y="2234565"/>
            <a:ext cx="1271016" cy="1217295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622292" y="3046095"/>
            <a:ext cx="1271016" cy="405765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622292" y="3451860"/>
            <a:ext cx="1271016" cy="405765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622292" y="3451860"/>
            <a:ext cx="1271016" cy="1217295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622292" y="2234565"/>
            <a:ext cx="1271016" cy="1866519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622292" y="3046095"/>
            <a:ext cx="1271016" cy="1054989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622292" y="3857625"/>
            <a:ext cx="1271016" cy="243459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622292" y="4101084"/>
            <a:ext cx="1271016" cy="568071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622292" y="2234565"/>
            <a:ext cx="1271016" cy="2515743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622292" y="3046095"/>
            <a:ext cx="1271016" cy="1704213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622292" y="3857625"/>
            <a:ext cx="1271016" cy="892683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622292" y="4669155"/>
            <a:ext cx="1271016" cy="81153"/>
          </a:xfrm>
          <a:prstGeom prst="line">
            <a:avLst/>
          </a:prstGeom>
          <a:ln w="50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040880" y="1508760"/>
            <a:ext cx="475488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MLP baseline'ımız görüntüyü düz bir vektöre çevirerek </a:t>
            </a:r>
            <a:r>
              <a:rPr sz="1100" b="1">
                <a:solidFill>
                  <a:srgbClr val="0F172A"/>
                </a:solidFill>
                <a:latin typeface="Calibri"/>
              </a:rPr>
              <a:t>üç tam bağlı katmandan</a:t>
            </a:r>
            <a:r>
              <a:rPr sz="1100" b="0">
                <a:solidFill>
                  <a:srgbClr val="334155"/>
                </a:solidFill>
                <a:latin typeface="Calibri"/>
              </a:rPr>
              <a:t> geçirir. Girdi katmanı 224×224×3 = </a:t>
            </a:r>
            <a:r>
              <a:rPr sz="1100" b="1">
                <a:solidFill>
                  <a:srgbClr val="0F172A"/>
                </a:solidFill>
                <a:latin typeface="Calibri"/>
              </a:rPr>
              <a:t>150.528</a:t>
            </a:r>
            <a:r>
              <a:rPr sz="1100" b="0">
                <a:solidFill>
                  <a:srgbClr val="334155"/>
                </a:solidFill>
                <a:latin typeface="Calibri"/>
              </a:rPr>
              <a:t> piksel değeri kabul eder; oradan </a:t>
            </a:r>
            <a:r>
              <a:rPr sz="1100" b="1">
                <a:solidFill>
                  <a:srgbClr val="0F172A"/>
                </a:solidFill>
                <a:latin typeface="Calibri"/>
              </a:rPr>
              <a:t>256 nöronluk</a:t>
            </a:r>
            <a:r>
              <a:rPr sz="1100" b="0">
                <a:solidFill>
                  <a:srgbClr val="334155"/>
                </a:solidFill>
                <a:latin typeface="Calibri"/>
              </a:rPr>
              <a:t> ilk gizli katmana, sonra </a:t>
            </a:r>
            <a:r>
              <a:rPr sz="1100" b="1">
                <a:solidFill>
                  <a:srgbClr val="0F172A"/>
                </a:solidFill>
                <a:latin typeface="Calibri"/>
              </a:rPr>
              <a:t>128 nöronluk</a:t>
            </a:r>
            <a:r>
              <a:rPr sz="1100" b="0">
                <a:solidFill>
                  <a:srgbClr val="334155"/>
                </a:solidFill>
                <a:latin typeface="Calibri"/>
              </a:rPr>
              <a:t> ikinci gizli katmana, son olarak </a:t>
            </a:r>
            <a:r>
              <a:rPr sz="1100" b="1">
                <a:solidFill>
                  <a:srgbClr val="0F172A"/>
                </a:solidFill>
                <a:latin typeface="Calibri"/>
              </a:rPr>
              <a:t>10 sınıflık</a:t>
            </a:r>
            <a:r>
              <a:rPr sz="1100" b="0">
                <a:solidFill>
                  <a:srgbClr val="334155"/>
                </a:solidFill>
                <a:latin typeface="Calibri"/>
              </a:rPr>
              <a:t> çıktı katmanına bağlanır.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Her gizli katmandan sonra </a:t>
            </a:r>
            <a:r>
              <a:rPr sz="1100" b="1">
                <a:solidFill>
                  <a:srgbClr val="0F172A"/>
                </a:solidFill>
                <a:latin typeface="Calibri"/>
              </a:rPr>
              <a:t>ReLU aktivasyonu</a:t>
            </a:r>
            <a:r>
              <a:rPr sz="1100" b="0">
                <a:solidFill>
                  <a:srgbClr val="334155"/>
                </a:solidFill>
                <a:latin typeface="Calibri"/>
              </a:rPr>
              <a:t> ve </a:t>
            </a:r>
            <a:r>
              <a:rPr sz="1100" b="1">
                <a:solidFill>
                  <a:srgbClr val="0F172A"/>
                </a:solidFill>
                <a:latin typeface="Calibri"/>
              </a:rPr>
              <a:t>Dropout 0.3</a:t>
            </a:r>
            <a:r>
              <a:rPr sz="1100" b="0">
                <a:solidFill>
                  <a:srgbClr val="334155"/>
                </a:solidFill>
                <a:latin typeface="Calibri"/>
              </a:rPr>
              <a:t> uygulanır. Toplam </a:t>
            </a:r>
            <a:r>
              <a:rPr sz="1100" b="1">
                <a:solidFill>
                  <a:srgbClr val="0F172A"/>
                </a:solidFill>
                <a:latin typeface="Calibri"/>
              </a:rPr>
              <a:t>38,57 milyon</a:t>
            </a:r>
            <a:r>
              <a:rPr sz="1100" b="0">
                <a:solidFill>
                  <a:srgbClr val="334155"/>
                </a:solidFill>
                <a:latin typeface="Calibri"/>
              </a:rPr>
              <a:t> parametre içerir; bunlar tamamen tam bağlı katmanlardadır ve </a:t>
            </a:r>
            <a:r>
              <a:rPr sz="1100" b="1">
                <a:solidFill>
                  <a:srgbClr val="0F172A"/>
                </a:solidFill>
                <a:latin typeface="Calibri"/>
              </a:rPr>
              <a:t>pretrained değildir</a:t>
            </a:r>
            <a:r>
              <a:rPr sz="1100" b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Eğitim</a:t>
            </a:r>
            <a:r>
              <a:rPr sz="1100" b="0">
                <a:solidFill>
                  <a:srgbClr val="334155"/>
                </a:solidFill>
                <a:latin typeface="Calibri"/>
              </a:rPr>
              <a:t>: AdamW optimizer (lr=1e-3), CosineAnnealingLR scheduler, batch size 64, </a:t>
            </a:r>
            <a:r>
              <a:rPr sz="1100" b="1">
                <a:solidFill>
                  <a:srgbClr val="0F172A"/>
                </a:solidFill>
                <a:latin typeface="Calibri"/>
              </a:rPr>
              <a:t>20 epoch</a:t>
            </a:r>
            <a:r>
              <a:rPr sz="1100" b="0">
                <a:solidFill>
                  <a:srgbClr val="334155"/>
                </a:solidFill>
                <a:latin typeface="Calibri"/>
              </a:rPr>
              <a:t> maksimum, </a:t>
            </a:r>
            <a:r>
              <a:rPr sz="1100" b="1">
                <a:solidFill>
                  <a:srgbClr val="0F172A"/>
                </a:solidFill>
                <a:latin typeface="Calibri"/>
              </a:rPr>
              <a:t>early stopping patience=5</a:t>
            </a:r>
            <a:r>
              <a:rPr sz="1100" b="0">
                <a:solidFill>
                  <a:srgbClr val="334155"/>
                </a:solidFill>
                <a:latin typeface="Calibri"/>
              </a:rPr>
              <a:t>. Eğitim </a:t>
            </a:r>
            <a:r>
              <a:rPr sz="1100" b="1">
                <a:solidFill>
                  <a:srgbClr val="0F172A"/>
                </a:solidFill>
                <a:latin typeface="Calibri"/>
              </a:rPr>
              <a:t>11,8 dakika</a:t>
            </a:r>
            <a:r>
              <a:rPr sz="1100" b="0">
                <a:solidFill>
                  <a:srgbClr val="334155"/>
                </a:solidFill>
                <a:latin typeface="Calibri"/>
              </a:rPr>
              <a:t> sürmüş ve 19. epoch'ta </a:t>
            </a:r>
            <a:r>
              <a:rPr sz="1100" b="1">
                <a:solidFill>
                  <a:srgbClr val="0F172A"/>
                </a:solidFill>
                <a:latin typeface="Calibri"/>
              </a:rPr>
              <a:t>best val_acc 0,5053</a:t>
            </a:r>
            <a:r>
              <a:rPr sz="1100" b="0">
                <a:solidFill>
                  <a:srgbClr val="334155"/>
                </a:solidFill>
                <a:latin typeface="Calibri"/>
              </a:rPr>
              <a:t> elde edilmiştir.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CNN Scratch — Sıfırdan Eğitilen Klasik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VGG-mini tarzı · 4 evrişim bloğu · 0.42M parametre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905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Girdi</a:t>
            </a:r>
          </a:p>
        </p:txBody>
      </p:sp>
      <p:sp>
        <p:nvSpPr>
          <p:cNvPr id="5" name="Rectangle 4"/>
          <p:cNvSpPr/>
          <p:nvPr/>
        </p:nvSpPr>
        <p:spPr>
          <a:xfrm>
            <a:off x="794385" y="1819885"/>
            <a:ext cx="1047750" cy="1142542"/>
          </a:xfrm>
          <a:prstGeom prst="rect">
            <a:avLst/>
          </a:prstGeom>
          <a:solidFill>
            <a:srgbClr val="F0FDF4"/>
          </a:solidFill>
          <a:ln w="1524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1905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3 × 224 × 224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87855" y="2327148"/>
            <a:ext cx="765810" cy="12801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70760" y="1463040"/>
            <a:ext cx="1905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Conv 32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9385" y="1954301"/>
            <a:ext cx="1047750" cy="873709"/>
          </a:xfrm>
          <a:prstGeom prst="rect">
            <a:avLst/>
          </a:prstGeom>
          <a:solidFill>
            <a:srgbClr val="DCFCE7"/>
          </a:solidFill>
          <a:ln w="1524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70760" y="3246120"/>
            <a:ext cx="1905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32 × 112 × 112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92855" y="2327148"/>
            <a:ext cx="765810" cy="12801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760" y="1463040"/>
            <a:ext cx="1905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Conv 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4385" y="2055114"/>
            <a:ext cx="1047750" cy="672084"/>
          </a:xfrm>
          <a:prstGeom prst="rect">
            <a:avLst/>
          </a:prstGeom>
          <a:solidFill>
            <a:srgbClr val="DCFCE7"/>
          </a:solidFill>
          <a:ln w="1524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5760" y="3246120"/>
            <a:ext cx="1905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64 × 56 × 56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697855" y="2327148"/>
            <a:ext cx="765810" cy="12801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463040"/>
            <a:ext cx="1905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Conv 128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9385" y="2122322"/>
            <a:ext cx="1047750" cy="537667"/>
          </a:xfrm>
          <a:prstGeom prst="rect">
            <a:avLst/>
          </a:prstGeom>
          <a:solidFill>
            <a:srgbClr val="16A34A"/>
          </a:solidFill>
          <a:ln w="1524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246120"/>
            <a:ext cx="1905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128 × 28 × 28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602855" y="2327148"/>
            <a:ext cx="765810" cy="12801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5760" y="1463040"/>
            <a:ext cx="1905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Conv 256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4385" y="2176089"/>
            <a:ext cx="1047750" cy="430133"/>
          </a:xfrm>
          <a:prstGeom prst="rect">
            <a:avLst/>
          </a:prstGeom>
          <a:solidFill>
            <a:srgbClr val="16A34A"/>
          </a:solidFill>
          <a:ln w="1524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5760" y="3246120"/>
            <a:ext cx="1905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256 × 14 × 14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07855" y="2327148"/>
            <a:ext cx="765810" cy="12801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0760" y="1463040"/>
            <a:ext cx="1905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GAP+FC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19385" y="2270181"/>
            <a:ext cx="1047750" cy="241950"/>
          </a:xfrm>
          <a:prstGeom prst="rect">
            <a:avLst/>
          </a:prstGeom>
          <a:solidFill>
            <a:srgbClr val="14532D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0760" y="3246120"/>
            <a:ext cx="1905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256 → 128 →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Sıfırdan eğitilen CNN baseline'ımız </a:t>
            </a:r>
            <a:r>
              <a:rPr sz="1100" b="1">
                <a:solidFill>
                  <a:srgbClr val="0F172A"/>
                </a:solidFill>
                <a:latin typeface="Calibri"/>
              </a:rPr>
              <a:t>VGG-mini</a:t>
            </a:r>
            <a:r>
              <a:rPr sz="1100" b="0">
                <a:solidFill>
                  <a:srgbClr val="334155"/>
                </a:solidFill>
                <a:latin typeface="Calibri"/>
              </a:rPr>
              <a:t> tarzında </a:t>
            </a:r>
            <a:r>
              <a:rPr sz="1100" b="1">
                <a:solidFill>
                  <a:srgbClr val="0F172A"/>
                </a:solidFill>
                <a:latin typeface="Calibri"/>
              </a:rPr>
              <a:t>dört evrişim bloğundan</a:t>
            </a:r>
            <a:r>
              <a:rPr sz="1100" b="0">
                <a:solidFill>
                  <a:srgbClr val="334155"/>
                </a:solidFill>
                <a:latin typeface="Calibri"/>
              </a:rPr>
              <a:t> oluşur. Her blok bir 3×3 convolution, batch normalization, ReLU aktivasyonu ve 2×2 maxpooling içerir. Filter sayıları her blokta iki katına çıkar (32 → 64 → 128 → 256), feature map çözünürlüğü ise yarıya düşer (224 → 112 → 56 → 28 → 14).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Son convolution bloğunun çıktısı </a:t>
            </a:r>
            <a:r>
              <a:rPr sz="1100" b="1">
                <a:solidFill>
                  <a:srgbClr val="0F172A"/>
                </a:solidFill>
                <a:latin typeface="Calibri"/>
              </a:rPr>
              <a:t>global average pooling</a:t>
            </a:r>
            <a:r>
              <a:rPr sz="1100" b="0">
                <a:solidFill>
                  <a:srgbClr val="334155"/>
                </a:solidFill>
                <a:latin typeface="Calibri"/>
              </a:rPr>
              <a:t> ile 256 boyutlu bir vektöre indirgenir; ardından 128 birimlik bir tam bağlı katman üzerinden 10 sınıflık tahmin üretilir. Toplam parametre sayısı yalnızca </a:t>
            </a:r>
            <a:r>
              <a:rPr sz="1100" b="1">
                <a:solidFill>
                  <a:srgbClr val="0F172A"/>
                </a:solidFill>
                <a:latin typeface="Calibri"/>
              </a:rPr>
              <a:t>0,42 milyondur</a:t>
            </a:r>
            <a:r>
              <a:rPr sz="1100" b="0">
                <a:solidFill>
                  <a:srgbClr val="334155"/>
                </a:solidFill>
                <a:latin typeface="Calibri"/>
              </a:rPr>
              <a:t> — yani MLP'den </a:t>
            </a:r>
            <a:r>
              <a:rPr sz="1100" b="1">
                <a:solidFill>
                  <a:srgbClr val="0F172A"/>
                </a:solidFill>
                <a:latin typeface="Calibri"/>
              </a:rPr>
              <a:t>92 kat daha az</a:t>
            </a:r>
            <a:r>
              <a:rPr sz="1100" b="0">
                <a:solidFill>
                  <a:srgbClr val="334155"/>
                </a:solidFill>
                <a:latin typeface="Calibri"/>
              </a:rPr>
              <a:t>, fakat görüntü yapısını sömürdüğü için sonuçları çok daha iyidir.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Eğitim</a:t>
            </a:r>
            <a:r>
              <a:rPr sz="1100" b="0">
                <a:solidFill>
                  <a:srgbClr val="334155"/>
                </a:solidFill>
                <a:latin typeface="Calibri"/>
              </a:rPr>
              <a:t>: AdamW (lr=1e-3), AMP mixed precision, </a:t>
            </a:r>
            <a:r>
              <a:rPr sz="1100" b="1">
                <a:solidFill>
                  <a:srgbClr val="0F172A"/>
                </a:solidFill>
                <a:latin typeface="Calibri"/>
              </a:rPr>
              <a:t>20 epoch</a:t>
            </a:r>
            <a:r>
              <a:rPr sz="1100" b="0">
                <a:solidFill>
                  <a:srgbClr val="334155"/>
                </a:solidFill>
                <a:latin typeface="Calibri"/>
              </a:rPr>
              <a:t> + </a:t>
            </a:r>
            <a:r>
              <a:rPr sz="1100" b="1">
                <a:solidFill>
                  <a:srgbClr val="0F172A"/>
                </a:solidFill>
                <a:latin typeface="Calibri"/>
              </a:rPr>
              <a:t>patience=5</a:t>
            </a:r>
            <a:r>
              <a:rPr sz="1100" b="0">
                <a:solidFill>
                  <a:srgbClr val="334155"/>
                </a:solidFill>
                <a:latin typeface="Calibri"/>
              </a:rPr>
              <a:t>. Eğitim </a:t>
            </a:r>
            <a:r>
              <a:rPr sz="1100" b="1">
                <a:solidFill>
                  <a:srgbClr val="0F172A"/>
                </a:solidFill>
                <a:latin typeface="Calibri"/>
              </a:rPr>
              <a:t>11,1 dakika</a:t>
            </a:r>
            <a:r>
              <a:rPr sz="1100" b="0">
                <a:solidFill>
                  <a:srgbClr val="334155"/>
                </a:solidFill>
                <a:latin typeface="Calibri"/>
              </a:rPr>
              <a:t> sürmüş, 19. epoch'ta </a:t>
            </a:r>
            <a:r>
              <a:rPr sz="1100" b="1">
                <a:solidFill>
                  <a:srgbClr val="0F172A"/>
                </a:solidFill>
                <a:latin typeface="Calibri"/>
              </a:rPr>
              <a:t>best val_acc 0,9680</a:t>
            </a:r>
            <a:r>
              <a:rPr sz="1100" b="0">
                <a:solidFill>
                  <a:srgbClr val="334155"/>
                </a:solidFill>
                <a:latin typeface="Calibri"/>
              </a:rPr>
              <a:t> elde edilmiştir — ImageNet pretrained kullanmadan, sıfırdan.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Transfer Learning + 3 Modern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ImageNet ön-eğitilmiş ağırlıklar · ResNet, EfficientNet, ViT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Transfer learning, ImageNet (1.2 milyon görsel, 1000 sınıf) üzerinde önceden eğitilmiş ağırlıkların kendi probleme uyarlanmasıdır. Tüm katmanlar fine-tune edilir; backbone dondurulmaz. Bu strateji, 10K görsellik küçük bir veri setiyle bile </a:t>
            </a:r>
            <a:r>
              <a:rPr sz="1200" b="1">
                <a:solidFill>
                  <a:srgbClr val="0F172A"/>
                </a:solidFill>
                <a:latin typeface="Calibri"/>
              </a:rPr>
              <a:t>yüksek doğruluk</a:t>
            </a:r>
            <a:r>
              <a:rPr sz="1200" b="0">
                <a:solidFill>
                  <a:srgbClr val="334155"/>
                </a:solidFill>
                <a:latin typeface="Calibri"/>
              </a:rPr>
              <a:t> sağlar.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2606040"/>
            <a:ext cx="36576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847" y="2606040"/>
            <a:ext cx="3657600" cy="5029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727" y="269748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ResNet50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" y="32461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2015 · Klasik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" y="3520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23.5M parametre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38862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Yapı taşı: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727" y="41148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Residual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4480559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Skip bağlantılarıyla derin (50+ katman) CNN. 20 epoch + early stop, AMP, lr=1e-4. 10.6 dk'da %99.13 macro-F1.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047" y="2606040"/>
            <a:ext cx="36576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047" y="2606040"/>
            <a:ext cx="3657600" cy="5029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9927" y="269748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EfficientNetB0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9927" y="32461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2019 · Modern 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9927" y="3520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4.0M parametre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9927" y="38862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Yapı taşı: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927" y="41148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MBConv + Compound 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9927" y="4480559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Mobile inverted bottleneck + 3 boyutu birlikte ölçekler. 20 epoch + early stop, AMP, lr=1e-4. 9.5 dk'da %99.07 macro-F1.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3247" y="2606040"/>
            <a:ext cx="36576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3247" y="2606040"/>
            <a:ext cx="3657600" cy="5029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6127" y="269748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ViT-Base/16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6127" y="32461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2020 · Transformer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6127" y="3520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85.8M parametre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6127" y="38862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Yapı taşı: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6127" y="41148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Patch Token + Self-Attention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6127" y="4480559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Görseli 16×16 patch'lere böler, NLP transformer'ını uygular. 20 epoch + early stop, AMP, lr=1e-4, batch 16. 19.5 dk'da %99.07 macro-F1.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Üçü de **timm** kütüphanesi üzerinden ImageNet pretrained ağırlıklarla yüklendi — tutarlı API ve aynı eğitim transformları sağlar.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Eğitim Protokolü ve Alternatif Yaklaşımlar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Adil karşılaştırma için 5 modelde ortak strateji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Ortak Hiperparametreler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4114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Tüm modeller </a:t>
            </a:r>
            <a:r>
              <a:rPr sz="1100" b="1">
                <a:solidFill>
                  <a:srgbClr val="0F172A"/>
                </a:solidFill>
                <a:latin typeface="Calibri"/>
              </a:rPr>
              <a:t>aynı protokolde</a:t>
            </a:r>
            <a:r>
              <a:rPr sz="1100" b="0">
                <a:solidFill>
                  <a:srgbClr val="334155"/>
                </a:solidFill>
                <a:latin typeface="Calibri"/>
              </a:rPr>
              <a:t> eğitildi — adil karşılaştırma için kritik. Optimizer </a:t>
            </a:r>
            <a:r>
              <a:rPr sz="1100" b="1">
                <a:solidFill>
                  <a:srgbClr val="0F172A"/>
                </a:solidFill>
                <a:latin typeface="Calibri"/>
              </a:rPr>
              <a:t>AdamW</a:t>
            </a:r>
            <a:r>
              <a:rPr sz="1100" b="0">
                <a:solidFill>
                  <a:srgbClr val="334155"/>
                </a:solidFill>
                <a:latin typeface="Calibri"/>
              </a:rPr>
              <a:t> (weight decay 1e-4), scheduler </a:t>
            </a:r>
            <a:r>
              <a:rPr sz="1100" b="1">
                <a:solidFill>
                  <a:srgbClr val="0F172A"/>
                </a:solidFill>
                <a:latin typeface="Calibri"/>
              </a:rPr>
              <a:t>CosineAnnealingLR</a:t>
            </a:r>
            <a:r>
              <a:rPr sz="1100" b="0">
                <a:solidFill>
                  <a:srgbClr val="334155"/>
                </a:solidFill>
                <a:latin typeface="Calibri"/>
              </a:rPr>
              <a:t> ile öğrenme oranı kosinüs eğrisinde 0'a iniyor. Loss fonksiyonu CrossEntropyLoss.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Maksimum </a:t>
            </a:r>
            <a:r>
              <a:rPr sz="1100" b="1">
                <a:solidFill>
                  <a:srgbClr val="0F172A"/>
                </a:solidFill>
                <a:latin typeface="Calibri"/>
              </a:rPr>
              <a:t>20 epoch</a:t>
            </a:r>
            <a:r>
              <a:rPr sz="1100" b="0">
                <a:solidFill>
                  <a:srgbClr val="334155"/>
                </a:solidFill>
                <a:latin typeface="Calibri"/>
              </a:rPr>
              <a:t>, </a:t>
            </a:r>
            <a:r>
              <a:rPr sz="1100" b="1">
                <a:solidFill>
                  <a:srgbClr val="0F172A"/>
                </a:solidFill>
                <a:latin typeface="Calibri"/>
              </a:rPr>
              <a:t>early stopping patience=5</a:t>
            </a:r>
            <a:r>
              <a:rPr sz="1100" b="0">
                <a:solidFill>
                  <a:srgbClr val="334155"/>
                </a:solidFill>
                <a:latin typeface="Calibri"/>
              </a:rPr>
              <a:t> — yani 5 ardışık epoch iyileşme olmazsa eğitim durur. Baseline modeller (MLP, CNN scratch) için lr=1e-3, transfer learning modelleri için daha küçük lr=1e-4 (pretrained ağırlıkları bozmamak için).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AMP — Automatic Mixed Precision</a:t>
            </a:r>
            <a:r>
              <a:rPr sz="1100" b="0">
                <a:solidFill>
                  <a:srgbClr val="334155"/>
                </a:solidFill>
                <a:latin typeface="Calibri"/>
              </a:rPr>
              <a:t> (FP16 + FP32 karışımı) transfer ve CNN scratch eğitimlerinde aktif; yaklaşık </a:t>
            </a:r>
            <a:r>
              <a:rPr sz="1100" b="1">
                <a:solidFill>
                  <a:srgbClr val="0F172A"/>
                </a:solidFill>
                <a:latin typeface="Calibri"/>
              </a:rPr>
              <a:t>%40 hızlanma</a:t>
            </a:r>
            <a:r>
              <a:rPr sz="1100" b="0">
                <a:solidFill>
                  <a:srgbClr val="334155"/>
                </a:solidFill>
                <a:latin typeface="Calibri"/>
              </a:rPr>
              <a:t> sağladı, doğruluğa zarar vermedi.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Reproducibility: </a:t>
            </a:r>
            <a:r>
              <a:rPr sz="1100" b="1">
                <a:solidFill>
                  <a:srgbClr val="0F172A"/>
                </a:solidFill>
                <a:latin typeface="Calibri"/>
              </a:rPr>
              <a:t>seed=42</a:t>
            </a:r>
            <a:r>
              <a:rPr sz="1100" b="0">
                <a:solidFill>
                  <a:srgbClr val="334155"/>
                </a:solidFill>
                <a:latin typeface="Calibri"/>
              </a:rPr>
              <a:t>, deterministic dataloader. Crash recovery için her epoch sonu checkpoint (resume desteği).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Düşünüp Uygulamadığım Alternatifler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2103120" cy="36576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Yaklaşım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920240"/>
            <a:ext cx="3108960" cy="36576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Neden seçmedim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Sıfırdan eğitim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28600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37744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10K yetmez, %20-30 düşüş bekleniyor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788920"/>
            <a:ext cx="2103120" cy="50292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Frozen backbone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788920"/>
            <a:ext cx="3108960" cy="50292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88036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Hızlı ama doğruluk %3-5 düşer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9184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LoRA / Adapter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29184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338328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LLM için anlamlı, 86M ViT için marjinal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794760"/>
            <a:ext cx="2103120" cy="50292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Mixup / CutMix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794760"/>
            <a:ext cx="3108960" cy="50292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8862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%1-2 ek doğruluk ama odağı dağıtır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29768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389120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K-Fold CV (5)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429768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438912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5× hesaplama, tek tahmin için yeterli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Sonuçlar — 5 Model Test Performansı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1500 örnekli test seti · birincil metrik Macro-F1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54480"/>
            <a:ext cx="1005840" cy="4572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554480"/>
            <a:ext cx="128016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5544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Macro-F1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554480"/>
            <a:ext cx="914400" cy="4572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5544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Top-3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554480"/>
            <a:ext cx="1188720" cy="4572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55448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Params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554480"/>
            <a:ext cx="1280160" cy="4572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5544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Boyut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554480"/>
            <a:ext cx="1097280" cy="4572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Inf (ms)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554480"/>
            <a:ext cx="1280160" cy="4572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5544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Eğitim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MLP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011680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20116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0.5027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20116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20116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0.4794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01168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0116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0.7600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01168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201168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38.57M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2011680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0116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147.1 MB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011680"/>
            <a:ext cx="1097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0116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9.83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011680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0116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11.8 dk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68880"/>
            <a:ext cx="228600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4688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CNN Scratch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2468880"/>
            <a:ext cx="100584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24688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0.9733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24688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24688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0.9733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2468880"/>
            <a:ext cx="91440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24688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0.9967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2468880"/>
            <a:ext cx="118872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246888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0.42M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24688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24688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1.6 MB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2468880"/>
            <a:ext cx="109728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2468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9.13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760" y="24688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24688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11.1 dk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2889504"/>
            <a:ext cx="1033272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292608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29260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ResNet50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2926080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29260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0.9913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29260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40" y="29260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0.9913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0" y="292608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29260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0.9973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0" y="292608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0" y="292608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23.53M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2926080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0" y="29260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89.8 MB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2926080"/>
            <a:ext cx="1097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29260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9.29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760" y="2926080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09760" y="29260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10.6 dk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383280"/>
            <a:ext cx="228600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33832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EfficientNetB0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0" y="3383280"/>
            <a:ext cx="100584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0" y="33832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0.9907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40" y="33832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49040" y="33832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0.9907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0" y="3383280"/>
            <a:ext cx="91440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0" y="33832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0.9973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43600" y="3383280"/>
            <a:ext cx="118872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0" y="338328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4.02M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32320" y="33832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0" y="33832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15.3 MB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12480" y="3383280"/>
            <a:ext cx="109728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12480" y="33832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9.99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09760" y="33832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09760" y="33832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9.5 dk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84048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38404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ViT-Base/16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0" y="3840480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0" y="38404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0.9907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749040" y="3840480"/>
            <a:ext cx="1280160" cy="4572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49040" y="38404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532D"/>
                </a:solidFill>
                <a:latin typeface="Calibri"/>
              </a:rPr>
              <a:t>0.9907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0" y="384048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0" y="38404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0.9953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0" y="384048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43600" y="384048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85.81M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32320" y="3840480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32320" y="38404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327.3 MB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12480" y="3840480"/>
            <a:ext cx="1097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12480" y="38404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12.01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09760" y="3840480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509760" y="38404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19.5 dk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Anahtar Gözlemler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MLP ile transfer arası yaklaşık 0,51 macro-F1 farkı bulunmaktadır</a:t>
            </a:r>
            <a:r>
              <a:rPr sz="1100" b="0">
                <a:solidFill>
                  <a:srgbClr val="334155"/>
                </a:solidFill>
                <a:latin typeface="Calibri"/>
              </a:rPr>
              <a:t> — görüntü yapısını sömüren mimarilerin değeri net biçimde görülür.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CNN Scratch yalnızca 0,42M parametre ile 0,9733 macro-F1</a:t>
            </a:r>
            <a:r>
              <a:rPr sz="1100" b="0">
                <a:solidFill>
                  <a:srgbClr val="334155"/>
                </a:solidFill>
                <a:latin typeface="Calibri"/>
              </a:rPr>
              <a:t>'e ulaşmıştır; ResNet50'nin 0,9913 ile arasında </a:t>
            </a:r>
            <a:r>
              <a:rPr sz="1100" b="1">
                <a:solidFill>
                  <a:srgbClr val="0F172A"/>
                </a:solidFill>
                <a:latin typeface="Calibri"/>
              </a:rPr>
              <a:t>sadece 0,018 fark</a:t>
            </a:r>
            <a:r>
              <a:rPr sz="1100" b="0">
                <a:solidFill>
                  <a:srgbClr val="334155"/>
                </a:solidFill>
                <a:latin typeface="Calibri"/>
              </a:rPr>
              <a:t> var — yani transfer learning'in marjinal katkısı bu görevde </a:t>
            </a:r>
            <a:r>
              <a:rPr sz="1100" b="1">
                <a:solidFill>
                  <a:srgbClr val="0F172A"/>
                </a:solidFill>
                <a:latin typeface="Calibri"/>
              </a:rPr>
              <a:t>küçüktür</a:t>
            </a:r>
            <a:r>
              <a:rPr sz="1100" b="0">
                <a:solidFill>
                  <a:srgbClr val="334155"/>
                </a:solidFill>
                <a:latin typeface="Calibri"/>
              </a:rPr>
              <a:t>, esas sıçrama MLP→CNN geçişinde yaşanır.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Transfer learning grubunda fark istatistiksel gürültü içinde</a:t>
            </a:r>
            <a:r>
              <a:rPr sz="1100" b="0">
                <a:solidFill>
                  <a:srgbClr val="334155"/>
                </a:solidFill>
                <a:latin typeface="Calibri"/>
              </a:rPr>
              <a:t> (0,06%); </a:t>
            </a:r>
            <a:r>
              <a:rPr sz="1100" b="1">
                <a:solidFill>
                  <a:srgbClr val="0F172A"/>
                </a:solidFill>
                <a:latin typeface="Calibri"/>
              </a:rPr>
              <a:t>EfficientNetB0</a:t>
            </a:r>
            <a:r>
              <a:rPr sz="1100" b="0">
                <a:solidFill>
                  <a:srgbClr val="334155"/>
                </a:solidFill>
                <a:latin typeface="Calibri"/>
              </a:rPr>
              <a:t> 21× daha az parametre ve 6× daha küçük dosyayla pratik olarak en akıllı tercih.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Eğitim Eğrileri Karşılaştırması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5 modelin train/val loss ve accuracy seyri</a:t>
            </a:r>
          </a:p>
        </p:txBody>
      </p:sp>
      <p:pic>
        <p:nvPicPr>
          <p:cNvPr id="4" name="Picture 3" descr="comparison_curves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80200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76072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704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MLP düşük accuracy'de plato yapar (%50). CNN Scratch hızlı yakınsar ve %96+ seviyesine çıkar. Transfer learning modelleri ilk birkaç epoch'ta zaten %95 üzerine çıkar — ImageNet ağırlıklarının değeri burada görünür.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Sınıf-Bazlı F1 Analizi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5 model × 10 sınıf — hangi sınıflar zor?</a:t>
            </a:r>
          </a:p>
        </p:txBody>
      </p:sp>
      <p:pic>
        <p:nvPicPr>
          <p:cNvPr id="4" name="Picture 3" descr="comparison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508760"/>
            <a:ext cx="10058400" cy="38861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669280"/>
            <a:ext cx="11247120" cy="128016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Her sınıf için 5 modelin F1 skoru yan yana gösterilmektedir (gri=MLP · turuncu=CNN Scratch · mavi=ResNet50 · yeşil=EfficientNetB0 · kırmızı=ViT-Base/16).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MLP</a:t>
            </a:r>
            <a:r>
              <a:rPr sz="1100" b="0">
                <a:solidFill>
                  <a:srgbClr val="334155"/>
                </a:solidFill>
                <a:latin typeface="Calibri"/>
              </a:rPr>
              <a:t>'nin Apex Legends ve Free Fire F1'i 0,2 civarında — model bu iki FPS'yi birbirine karıştırıyor. </a:t>
            </a:r>
            <a:r>
              <a:rPr sz="1100" b="1">
                <a:solidFill>
                  <a:srgbClr val="0F172A"/>
                </a:solidFill>
                <a:latin typeface="Calibri"/>
              </a:rPr>
              <a:t>CNN Scratch</a:t>
            </a:r>
            <a:r>
              <a:rPr sz="1100" b="0">
                <a:solidFill>
                  <a:srgbClr val="334155"/>
                </a:solidFill>
                <a:latin typeface="Calibri"/>
              </a:rPr>
              <a:t> ve transfer modelleri tüm sınıflarda 0,95 üstü; en zor sınıf yine </a:t>
            </a:r>
            <a:r>
              <a:rPr sz="1100" b="1">
                <a:solidFill>
                  <a:srgbClr val="0F172A"/>
                </a:solidFill>
                <a:latin typeface="Calibri"/>
              </a:rPr>
              <a:t>Apex Legends</a:t>
            </a:r>
            <a:r>
              <a:rPr sz="1100" b="0">
                <a:solidFill>
                  <a:srgbClr val="334155"/>
                </a:solidFill>
                <a:latin typeface="Calibri"/>
              </a:rPr>
              <a:t> (benzer HUD).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Hata Analizi — Confusion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5 model için normalize edilmiş confusion matrix grid</a:t>
            </a:r>
          </a:p>
        </p:txBody>
      </p:sp>
      <p:pic>
        <p:nvPicPr>
          <p:cNvPr id="4" name="Picture 3" descr="comparison_confusi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11612880" cy="2002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Diagonal</a:t>
            </a:r>
            <a:r>
              <a:rPr sz="1100" b="0">
                <a:solidFill>
                  <a:srgbClr val="334155"/>
                </a:solidFill>
                <a:latin typeface="Calibri"/>
              </a:rPr>
              <a:t> = doğru tahmin (recall). </a:t>
            </a:r>
            <a:r>
              <a:rPr sz="1100" b="1">
                <a:solidFill>
                  <a:srgbClr val="0F172A"/>
                </a:solidFill>
                <a:latin typeface="Calibri"/>
              </a:rPr>
              <a:t>MLP</a:t>
            </a:r>
            <a:r>
              <a:rPr sz="1100" b="0">
                <a:solidFill>
                  <a:srgbClr val="334155"/>
                </a:solidFill>
                <a:latin typeface="Calibri"/>
              </a:rPr>
              <a:t>'nin matrisi dağınıktır; özellikle Apex Legends, Free Fire ve God of War satırlarında yanlış tahminler yoğun. </a:t>
            </a:r>
            <a:r>
              <a:rPr sz="1100" b="1">
                <a:solidFill>
                  <a:srgbClr val="0F172A"/>
                </a:solidFill>
                <a:latin typeface="Calibri"/>
              </a:rPr>
              <a:t>CNN Scratch ve transfer</a:t>
            </a:r>
            <a:r>
              <a:rPr sz="1100" b="0">
                <a:solidFill>
                  <a:srgbClr val="334155"/>
                </a:solidFill>
                <a:latin typeface="Calibri"/>
              </a:rPr>
              <a:t> modellerinin diagonal'leri belirgin şekilde temizlenir.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Tüm modellerde en zor karışan sınıf ikilisi </a:t>
            </a:r>
            <a:r>
              <a:rPr sz="1100" b="1">
                <a:solidFill>
                  <a:srgbClr val="0F172A"/>
                </a:solidFill>
                <a:latin typeface="Calibri"/>
              </a:rPr>
              <a:t>Apex Legends ↔ Free Fire</a:t>
            </a:r>
            <a:r>
              <a:rPr sz="1100" b="0">
                <a:solidFill>
                  <a:srgbClr val="334155"/>
                </a:solidFill>
                <a:latin typeface="Calibri"/>
              </a:rPr>
              <a:t> — her ikisi de battle royale FPS, benzer HUD elementleri (mini harita, sağlık barı, silah göstergesi) taşıdığı için karıştırılması beklenen bir durum.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Grad-CAM ve EigenCAM — Modelin Nereye Baktığı?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Heatmap görselleştirmesi · neden ViT için EigenCAM?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Bir modelin %99 doğruluk vermesi yetmez — </a:t>
            </a:r>
            <a:r>
              <a:rPr sz="1200" b="1">
                <a:solidFill>
                  <a:srgbClr val="0F172A"/>
                </a:solidFill>
                <a:latin typeface="Calibri"/>
              </a:rPr>
              <a:t>kararına hangi piksellerin etki ettiği</a:t>
            </a:r>
            <a:r>
              <a:rPr sz="1200" b="0">
                <a:solidFill>
                  <a:srgbClr val="334155"/>
                </a:solidFill>
                <a:latin typeface="Calibri"/>
              </a:rPr>
              <a:t> sorusu da önemlidir. Heatmap görselleştirmesi bu görünmez mantığı açığa çıkarır; model debug ve güven açısından kritiktir.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54864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5486400" cy="5029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7063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GradCAM (CNN'ler için)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512064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000" b="0">
                <a:solidFill>
                  <a:srgbClr val="334155"/>
                </a:solidFill>
                <a:latin typeface="Calibri"/>
              </a:rPr>
              <a:t>Son convolution katmandaki </a:t>
            </a:r>
            <a:r>
              <a:rPr sz="1000" b="1">
                <a:solidFill>
                  <a:srgbClr val="0F172A"/>
                </a:solidFill>
                <a:latin typeface="Calibri"/>
              </a:rPr>
              <a:t>gradient × activation</a:t>
            </a:r>
            <a:r>
              <a:rPr sz="1000" b="0">
                <a:solidFill>
                  <a:srgbClr val="334155"/>
                </a:solidFill>
                <a:latin typeface="Calibri"/>
              </a:rPr>
              <a:t> çarpımı. Sınıf-özel: hangi piksel "Fortnite" kararına ne kadar katkı verdi.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CNN Scratch</a:t>
            </a:r>
            <a:r>
              <a:rPr sz="1000" b="0">
                <a:solidFill>
                  <a:srgbClr val="334155"/>
                </a:solidFill>
                <a:latin typeface="Calibri"/>
              </a:rPr>
              <a:t> için son conv bloğu (256 × 14 × 14), </a:t>
            </a:r>
            <a:r>
              <a:rPr sz="1000" b="1">
                <a:solidFill>
                  <a:srgbClr val="0F172A"/>
                </a:solidFill>
                <a:latin typeface="Calibri"/>
              </a:rPr>
              <a:t>ResNet50</a:t>
            </a:r>
            <a:r>
              <a:rPr sz="1000" b="0">
                <a:solidFill>
                  <a:srgbClr val="334155"/>
                </a:solidFill>
                <a:latin typeface="Calibri"/>
              </a:rPr>
              <a:t> için layer4'ün son bloğu, </a:t>
            </a:r>
            <a:r>
              <a:rPr sz="1000" b="1">
                <a:solidFill>
                  <a:srgbClr val="0F172A"/>
                </a:solidFill>
                <a:latin typeface="Calibri"/>
              </a:rPr>
              <a:t>EfficientNetB0</a:t>
            </a:r>
            <a:r>
              <a:rPr sz="1000" b="0">
                <a:solidFill>
                  <a:srgbClr val="334155"/>
                </a:solidFill>
                <a:latin typeface="Calibri"/>
              </a:rPr>
              <a:t> için son MBConv stage'i kullanılır.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97480"/>
            <a:ext cx="54864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697480"/>
            <a:ext cx="5486400" cy="5029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7063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EigenCAM (ViT için)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37560"/>
            <a:ext cx="512064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000" b="0">
                <a:solidFill>
                  <a:srgbClr val="334155"/>
                </a:solidFill>
                <a:latin typeface="Calibri"/>
              </a:rPr>
              <a:t>ViT softmax doygunluğu (conf=1.0) → vanilla GradCAM'in gradient'i tam </a:t>
            </a:r>
            <a:r>
              <a:rPr sz="1000" b="1">
                <a:solidFill>
                  <a:srgbClr val="0F172A"/>
                </a:solidFill>
                <a:latin typeface="Calibri"/>
              </a:rPr>
              <a:t>sıfır</a:t>
            </a:r>
            <a:r>
              <a:rPr sz="1000" b="0">
                <a:solidFill>
                  <a:srgbClr val="334155"/>
                </a:solidFill>
                <a:latin typeface="Calibri"/>
              </a:rPr>
              <a:t> olur; heatmap üretilemez.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EigenCAM</a:t>
            </a:r>
            <a:r>
              <a:rPr sz="1000" b="0">
                <a:solidFill>
                  <a:srgbClr val="334155"/>
                </a:solidFill>
                <a:latin typeface="Calibri"/>
              </a:rPr>
              <a:t> gradient gerektirmez — son block aktivasyonlarının </a:t>
            </a:r>
            <a:r>
              <a:rPr sz="1000" b="1">
                <a:solidFill>
                  <a:srgbClr val="0F172A"/>
                </a:solidFill>
                <a:latin typeface="Calibri"/>
              </a:rPr>
              <a:t>SVD</a:t>
            </a:r>
            <a:r>
              <a:rPr sz="1000" b="0">
                <a:solidFill>
                  <a:srgbClr val="334155"/>
                </a:solidFill>
                <a:latin typeface="Calibri"/>
              </a:rPr>
              <a:t>'sini alır. Sınıf-özel değil, ama her görselde </a:t>
            </a:r>
            <a:r>
              <a:rPr sz="1000" b="1">
                <a:solidFill>
                  <a:srgbClr val="0F172A"/>
                </a:solidFill>
                <a:latin typeface="Calibri"/>
              </a:rPr>
              <a:t>tutarlı</a:t>
            </a:r>
            <a:r>
              <a:rPr sz="1000" b="0">
                <a:solidFill>
                  <a:srgbClr val="334155"/>
                </a:solidFill>
                <a:latin typeface="Calibri"/>
              </a:rPr>
              <a:t> çalışır.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Önemli not: **MLP için heatmap üretilemez** — tam bağlı katmanların uzamsal feature map'i yoktur.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6072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704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Pratik anekdot: Demoda Roblox görselinde ViT yanlış cevap verdi; EigenCAM modelin avatar yerine **gökyüzüne baktığını** gösterdi — hata sebebi anında anlaşıldı.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Canlı Demo — Lokal Web Uygulaması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FastAPI + React · 5 model · belirsizlik göstergesi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Lokal web uygulaması üç adımdan oluşur: </a:t>
            </a:r>
            <a:r>
              <a:rPr sz="1200" b="1">
                <a:solidFill>
                  <a:srgbClr val="0F172A"/>
                </a:solidFill>
                <a:latin typeface="Calibri"/>
              </a:rPr>
              <a:t>görsel yükleme</a:t>
            </a:r>
            <a:r>
              <a:rPr sz="1200" b="0">
                <a:solidFill>
                  <a:srgbClr val="334155"/>
                </a:solidFill>
                <a:latin typeface="Calibri"/>
              </a:rPr>
              <a:t> (drag-drop veya hazır örnekler), </a:t>
            </a:r>
            <a:r>
              <a:rPr sz="1200" b="1">
                <a:solidFill>
                  <a:srgbClr val="0F172A"/>
                </a:solidFill>
                <a:latin typeface="Calibri"/>
              </a:rPr>
              <a:t>model seçimi</a:t>
            </a:r>
            <a:r>
              <a:rPr sz="1200" b="0">
                <a:solidFill>
                  <a:srgbClr val="334155"/>
                </a:solidFill>
                <a:latin typeface="Calibri"/>
              </a:rPr>
              <a:t> (tek model ya da "tümünü karşılaştır") ve </a:t>
            </a:r>
            <a:r>
              <a:rPr sz="1200" b="1">
                <a:solidFill>
                  <a:srgbClr val="0F172A"/>
                </a:solidFill>
                <a:latin typeface="Calibri"/>
              </a:rPr>
              <a:t>sonuç görüntüleme</a:t>
            </a:r>
            <a:r>
              <a:rPr sz="1200" b="0">
                <a:solidFill>
                  <a:srgbClr val="334155"/>
                </a:solidFill>
                <a:latin typeface="Calibri"/>
              </a:rPr>
              <a:t> (Top-3 tahminler + Grad-CAM/EigenCAM heatmap + belirsizlik rozeti).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532D"/>
                </a:solidFill>
                <a:latin typeface="Calibri"/>
              </a:rPr>
              <a:t>Belirsizlik Göstergesi (entropy + margin)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97280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Her tahmin için Shannon </a:t>
            </a:r>
            <a:r>
              <a:rPr sz="1100" b="1">
                <a:solidFill>
                  <a:srgbClr val="0F172A"/>
                </a:solidFill>
                <a:latin typeface="Calibri"/>
              </a:rPr>
              <a:t>entropy</a:t>
            </a:r>
            <a:r>
              <a:rPr sz="1100" b="0">
                <a:solidFill>
                  <a:srgbClr val="334155"/>
                </a:solidFill>
                <a:latin typeface="Calibri"/>
              </a:rPr>
              <a:t> (sınıf olasılıkları dağılımı) ve top-1 ile top-2 arasındaki </a:t>
            </a:r>
            <a:r>
              <a:rPr sz="1100" b="1">
                <a:solidFill>
                  <a:srgbClr val="0F172A"/>
                </a:solidFill>
                <a:latin typeface="Calibri"/>
              </a:rPr>
              <a:t>margin</a:t>
            </a:r>
            <a:r>
              <a:rPr sz="1100" b="0">
                <a:solidFill>
                  <a:srgbClr val="334155"/>
                </a:solidFill>
                <a:latin typeface="Calibri"/>
              </a:rPr>
              <a:t> hesaplanır. Bu iki sinyal </a:t>
            </a:r>
            <a:r>
              <a:rPr sz="1100" b="1">
                <a:solidFill>
                  <a:srgbClr val="0F172A"/>
                </a:solidFill>
                <a:latin typeface="Calibri"/>
              </a:rPr>
              <a:t>3 seviyeli rozet</a:t>
            </a:r>
            <a:r>
              <a:rPr sz="1100" b="0">
                <a:solidFill>
                  <a:srgbClr val="334155"/>
                </a:solidFill>
                <a:latin typeface="Calibri"/>
              </a:rPr>
              <a:t> üretir: 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🟢 </a:t>
            </a:r>
            <a:r>
              <a:rPr sz="1100" b="1">
                <a:solidFill>
                  <a:srgbClr val="0F172A"/>
                </a:solidFill>
                <a:latin typeface="Calibri"/>
              </a:rPr>
              <a:t>Kesin</a:t>
            </a:r>
            <a:r>
              <a:rPr sz="1100" b="0">
                <a:solidFill>
                  <a:srgbClr val="334155"/>
                </a:solidFill>
                <a:latin typeface="Calibri"/>
              </a:rPr>
              <a:t> — yüksek max prob (≥0.85), geniş margin (≥0.50), düşük entropy.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🟡 </a:t>
            </a:r>
            <a:r>
              <a:rPr sz="1100" b="1">
                <a:solidFill>
                  <a:srgbClr val="0F172A"/>
                </a:solidFill>
                <a:latin typeface="Calibri"/>
              </a:rPr>
              <a:t>Şüpheli</a:t>
            </a:r>
            <a:r>
              <a:rPr sz="1100" b="0">
                <a:solidFill>
                  <a:srgbClr val="334155"/>
                </a:solidFill>
                <a:latin typeface="Calibri"/>
              </a:rPr>
              <a:t> — orta seviye güven; top-1 ve top-2 yarışıyor olabilir.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🔴 </a:t>
            </a:r>
            <a:r>
              <a:rPr sz="1100" b="1">
                <a:solidFill>
                  <a:srgbClr val="0F172A"/>
                </a:solidFill>
                <a:latin typeface="Calibri"/>
              </a:rPr>
              <a:t>Belirsiz</a:t>
            </a:r>
            <a:r>
              <a:rPr sz="1100" b="0">
                <a:solidFill>
                  <a:srgbClr val="334155"/>
                </a:solidFill>
                <a:latin typeface="Calibri"/>
              </a:rPr>
              <a:t> — düşük max prob (&lt;0.50) veya yüksek entropy.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OOD sinyali</a:t>
            </a:r>
            <a:r>
              <a:rPr sz="1100" b="0">
                <a:solidFill>
                  <a:srgbClr val="334155"/>
                </a:solidFill>
                <a:latin typeface="Calibri"/>
              </a:rPr>
              <a:t>: comparison modunda 3+ model "low" işaretlerse, görsel muhtemelen 10 sınıf dışı (out-of-distribution).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972800" cy="86868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0527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532D"/>
                </a:solidFill>
                <a:latin typeface="Calibri"/>
              </a:rPr>
              <a:t>▶ Şimdi tarayıcıda **http://localhost:5173** açıyorum: hazır örneklerden bir konsensüs vakası (Minecraft) ve 3 modelin çeliştiği bir vaka (Fortnite) göstereceğim, ardından listede olmayan bir oyun yükleyip OOD davranışını deneyeceğim.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532D"/>
                </a:solidFill>
                <a:latin typeface="Calibri"/>
              </a:rPr>
              <a:t>Sonuç Değerlendirmesi · Sınırlamalar · Erişim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Genel değerlendirme · gelecek çalışma · projeye nereden ulaşılır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Sonuç Değerlendirmesi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Mimari fark çoğu zaman maliyet farkıdır.</a:t>
            </a:r>
            <a:r>
              <a:rPr sz="1100" b="0">
                <a:solidFill>
                  <a:srgbClr val="334155"/>
                </a:solidFill>
                <a:latin typeface="Calibri"/>
              </a:rPr>
              <a:t> Bu görevde 0,42M parametreli CNN Scratch ile 86M parametreli ViT arasında macro-F1 farkı yalnızca 0,018 — </a:t>
            </a:r>
            <a:r>
              <a:rPr sz="1100" b="1">
                <a:solidFill>
                  <a:srgbClr val="0F172A"/>
                </a:solidFill>
                <a:latin typeface="Calibri"/>
              </a:rPr>
              <a:t>doğruluk değil, verimlilik kararı</a:t>
            </a:r>
            <a:r>
              <a:rPr sz="1100" b="0">
                <a:solidFill>
                  <a:srgbClr val="334155"/>
                </a:solidFill>
                <a:latin typeface="Calibri"/>
              </a:rPr>
              <a:t> önemlidir.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Transfer learning'in en büyük katkısı erken epoch'larda</a:t>
            </a:r>
            <a:r>
              <a:rPr sz="1100" b="0">
                <a:solidFill>
                  <a:srgbClr val="334155"/>
                </a:solidFill>
                <a:latin typeface="Calibri"/>
              </a:rPr>
              <a:t> görülür; sıfırdan eğitilen CNN ise yeterli veriyle yine yüksek doğruluğa ulaşır.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Confidence ≠ Correctness</a:t>
            </a:r>
            <a:r>
              <a:rPr sz="1100" b="0">
                <a:solidFill>
                  <a:srgbClr val="334155"/>
                </a:solidFill>
                <a:latin typeface="Calibri"/>
              </a:rPr>
              <a:t> — model %87 emin olabilir ve yine de yanılabilir. Belirsizlik göstergesi bu durumu kullanıcıya anlık olarak gösterir.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Sınırlamalar &amp; Gelecek Çalışma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521208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Closed-set softmax</a:t>
            </a:r>
            <a:r>
              <a:rPr sz="1100" b="0">
                <a:solidFill>
                  <a:srgbClr val="334155"/>
                </a:solidFill>
                <a:latin typeface="Calibri"/>
              </a:rPr>
              <a:t> sınır dışı sınıf için zorunlu tahmin verir; gerçek OOD detection (Mahalanobis, energy-based) eklenmeli.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10K görsel sınırı; daha fazla sınıf ve sahne çeşitliliği (menü, loading ekranı vb.) eklenmeli.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Confidence calibration (temperature scaling) eksik.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Multi-label genişletme (aynı görselde birden fazla oyun ögesi).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Mobil deploy: EfficientNet → ONNX → mobil cihaz.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Calibri"/>
              </a:rPr>
              <a:t>Blog Yazısına Erişim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" y="4709160"/>
            <a:ext cx="2057400" cy="50292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4603" y="4709160"/>
            <a:ext cx="1874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github.com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80563" y="4846320"/>
            <a:ext cx="164592" cy="22860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45155" y="4709160"/>
            <a:ext cx="2057400" cy="5029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6595" y="4709160"/>
            <a:ext cx="1874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MAliTopkara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02555" y="4846320"/>
            <a:ext cx="164592" cy="22860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67147" y="4709160"/>
            <a:ext cx="2057400" cy="50292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8587" y="4709160"/>
            <a:ext cx="1874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YZM304-Derin-Ogrenme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4547" y="4846320"/>
            <a:ext cx="164592" cy="22860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89139" y="4709160"/>
            <a:ext cx="2057400" cy="5029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0579" y="4709160"/>
            <a:ext cx="1874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proje4/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46539" y="4846320"/>
            <a:ext cx="164592" cy="22860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11131" y="4709160"/>
            <a:ext cx="2057400" cy="50292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2571" y="4709160"/>
            <a:ext cx="1874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blog.md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🔗 https://github.com/MAliTopkara/YZM304-Derin-Ogrenme/tree/main/proje4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532D"/>
                </a:solidFill>
                <a:latin typeface="Calibri"/>
              </a:rPr>
              <a:t>Ana Referanslar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 et al. 2015 (ResNet) · Tan &amp; Le 2019 (EfficientNet) · Dosovitskiy et al. 2020 (ViT) · Selvaraju et al. 2017 (Grad-CAM) · Bany Muhammad &amp; Yeasin 2020 (EigenCAM) · timm (Wightman, HuggingFace)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Calibri"/>
              </a:rPr>
              <a:t>YZM304 Derin Öğrenme · Proje 4 · Mehmet Ali Topkara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54710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14532D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